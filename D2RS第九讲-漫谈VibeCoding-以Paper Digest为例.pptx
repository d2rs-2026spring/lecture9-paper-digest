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hatgpt.com/share/69c9d325-7220-8323-99e2-db2dd7dd7e29" TargetMode="External"/><Relationship Id="rId2" Type="http://schemas.openxmlformats.org/officeDocument/2006/relationships/hyperlink" Target="https://github.com/D2RS-2026spring/lecture9-paper-digest/commits/mai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bailian.console.aliyun.com/cn-beijing?spm=5176.45659035.0.0.174f6256FCLz8w&amp;tab=coding-plan#/efm/coding-plan-index" TargetMode="External"/><Relationship Id="rId2" Type="http://schemas.openxmlformats.org/officeDocument/2006/relationships/hyperlink" Target="https://docs.bigmodel.cn/cn/coding-plan/overview" TargetMode="External"/><Relationship Id="rId3" Type="http://schemas.openxmlformats.org/officeDocument/2006/relationships/hyperlink" Target="https://www.volcengine.com/activity/codingplan" TargetMode="External"/><Relationship Id="rId4" Type="http://schemas.openxmlformats.org/officeDocument/2006/relationships/hyperlink" Target="https://platform.minimaxi.com/docs/guides/pricing-token-plan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ilibili.com/video/BV1G3FNznEiS/" TargetMode="External"/><Relationship Id="rId2" Type="http://schemas.openxmlformats.org/officeDocument/2006/relationships/hyperlink" Target="https://guide-app-lyart.vercel.app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5989" y="1082278"/>
            <a:ext cx="503202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漫谈 Vibe Coding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810000" y="2447330"/>
            <a:ext cx="1524000" cy="50750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15127" y="3056781"/>
            <a:ext cx="371359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3000"/>
              </a:spcAft>
              <a:buNone/>
            </a:pPr>
            <a:r>
              <a:rPr lang="en-US" sz="2400" dirty="0">
                <a:solidFill>
                  <a:srgbClr val="A8D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AI时代的科研开发范式转变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0811" y="4044107"/>
            <a:ext cx="20422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2026年04月01日 | 高老师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结课安排：最后的冲刺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1000" y="2095351"/>
            <a:ext cx="3936950" cy="0"/>
          </a:xfrm>
          <a:prstGeom prst="line">
            <a:avLst/>
          </a:prstGeom>
          <a:noFill/>
          <a:ln w="38100">
            <a:solidFill>
              <a:srgbClr val="429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1431875"/>
            <a:ext cx="40156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项目进度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2304901"/>
            <a:ext cx="3936950" cy="69562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复现项目规划 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项目实施和提交 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截止 2026年5月30日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25901" y="2095351"/>
            <a:ext cx="3937099" cy="0"/>
          </a:xfrm>
          <a:prstGeom prst="line">
            <a:avLst/>
          </a:prstGeom>
          <a:noFill/>
          <a:ln w="38100">
            <a:solidFill>
              <a:srgbClr val="429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5901" y="1431875"/>
            <a:ext cx="40158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考核标准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25901" y="2304901"/>
            <a:ext cx="3937099" cy="9926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体现课堂所教所学的技术栈应用</a:t>
            </a:r>
            <a:endParaRPr lang="en-US" sz="1300" dirty="0"/>
          </a:p>
          <a:p>
            <a:pPr algn="l" marL="127000" indent="-127000">
              <a:lnSpc>
                <a:spcPts val="234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立意：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不仅是跑通代码，而是体现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数据科学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可重复研究</a:t>
            </a:r>
            <a:pPr algn="l" indent="0" marL="0">
              <a:lnSpc>
                <a:spcPts val="234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的理论体系与实践方法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内容回顾：我们的知识版图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038225"/>
            <a:ext cx="8382000" cy="533400"/>
          </a:xfrm>
          <a:prstGeom prst="roundRect">
            <a:avLst>
              <a:gd name="adj" fmla="val 1904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6159" y="1190625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核心目的：</a:t>
            </a:r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锚定研究可重复性难题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，探索系统解决方案，提高研究生科研能力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1762125"/>
            <a:ext cx="2692301" cy="1276052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4813" y="1762125"/>
            <a:ext cx="0" cy="1276052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1025" y="2066925"/>
            <a:ext cx="23866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1025" y="2403425"/>
            <a:ext cx="238667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规范的目录结构、软件仓库管理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25701" y="1762125"/>
            <a:ext cx="2692450" cy="1276052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49513" y="1762125"/>
            <a:ext cx="0" cy="1276052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5726" y="2066925"/>
            <a:ext cx="2386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环境配置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5726" y="2403425"/>
            <a:ext cx="23868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renv 管理 R 环境，uv 管理 Python 环境，.env 管理系统变量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70550" y="1762125"/>
            <a:ext cx="2692301" cy="1276052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4363" y="1762125"/>
            <a:ext cx="0" cy="1276052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0575" y="2066925"/>
            <a:ext cx="23866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文学化编程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0575" y="2403425"/>
            <a:ext cx="238667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单文件 QMD、网页类 Quarto、图书类 Quarto 项目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000" y="3190577"/>
            <a:ext cx="2692301" cy="1276052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4813" y="3190577"/>
            <a:ext cx="0" cy="1276052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025" y="3495377"/>
            <a:ext cx="23866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工具链整合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1025" y="3831878"/>
            <a:ext cx="238667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Git/GitHub、Positron/VSCode、Markdown/QMD、AI 辅助工具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25701" y="3190577"/>
            <a:ext cx="2692450" cy="1276052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49513" y="3190577"/>
            <a:ext cx="0" cy="1276052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5726" y="3495377"/>
            <a:ext cx="2386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实战复现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5726" y="3831878"/>
            <a:ext cx="23868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个 R/Python 项目：统计分析、组学数据、神经网络、CNN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70550" y="3190577"/>
            <a:ext cx="2692301" cy="1276052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94363" y="3190577"/>
            <a:ext cx="0" cy="1276052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0575" y="3495377"/>
            <a:ext cx="23866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0575" y="3793778"/>
            <a:ext cx="238667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辅助开发、Agent 编程、Token 优化、Claude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Paper Digest 项目演示：Vibe Coding 实战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</a:rPr>
              <a:t>开发流程闭环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5272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需求讨论：与 ChatGPT 确定系统架构</a:t>
            </a:r>
            <a:endParaRPr lang="en-US" sz="900" dirty="0"/>
          </a:p>
        </p:txBody>
      </p:sp>
      <p:sp>
        <p:nvSpPr>
          <p:cNvPr id="8" name="Text 6">
            <a:hlinkClick r:id="rId1" tooltip="点击查看"/>
          </p:cNvPr>
          <p:cNvSpPr/>
          <p:nvPr/>
        </p:nvSpPr>
        <p:spPr>
          <a:xfrm>
            <a:off x="685800" y="141732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B6CB0"/>
                </a:solidFill>
                <a:hlinkClick r:id="rId1" invalidUrl="" action="" tgtFrame="" tooltip="点击查看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chatgpt.com/share/...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5564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规则先行：提供开发文档，确保 AI 开发有章可循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5856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原型验证：使用 Quarto 文档进行分步实现，完成原型设计和 README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614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Agent 开发：使用 Claude Code + Kimi K2.5 花费约 60 元 Token 开发完成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228600" cy="22860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6440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人工干预：中途必要时进行干预，参与开发过程，确保科学性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822960"/>
            <a:ext cx="4389120" cy="228600"/>
          </a:xfrm>
          <a:prstGeom prst="rect">
            <a:avLst/>
          </a:prstGeom>
          <a:solidFill>
            <a:srgbClr val="FFFFFF"/>
          </a:solidFill>
          <a:ln>
            <a:solidFill>
              <a:srgbClr val="4299E1"/>
            </a:solidFill>
          </a:ln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技术栈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1097280"/>
            <a:ext cx="43891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Python、Zotero、LLM（Qwen-Long）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1463040"/>
            <a:ext cx="4389120" cy="228600"/>
          </a:xfrm>
          <a:prstGeom prst="rect">
            <a:avLst/>
          </a:prstGeom>
          <a:solidFill>
            <a:srgbClr val="FFFFFF"/>
          </a:solidFill>
          <a:ln>
            <a:solidFill>
              <a:srgbClr val="4299E1"/>
            </a:solidFill>
          </a:ln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开发截图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1737360"/>
            <a:ext cx="43891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详见下页截图展示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2103120"/>
            <a:ext cx="4389120" cy="228600"/>
          </a:xfrm>
          <a:prstGeom prst="rect">
            <a:avLst/>
          </a:prstGeom>
          <a:solidFill>
            <a:srgbClr val="FFFFFF"/>
          </a:solidFill>
          <a:ln>
            <a:solidFill>
              <a:srgbClr val="4299E1"/>
            </a:solidFill>
          </a:ln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开发历程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2377440"/>
            <a:ext cx="43891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GitHub Commit History 完整记录开发过程</a:t>
            </a:r>
            <a:endParaRPr lang="en-US" sz="900" dirty="0"/>
          </a:p>
        </p:txBody>
      </p:sp>
      <p:sp>
        <p:nvSpPr>
          <p:cNvPr id="27" name="Text 25">
            <a:hlinkClick r:id="rId2" tooltip="查看提交历史"/>
          </p:cNvPr>
          <p:cNvSpPr/>
          <p:nvPr/>
        </p:nvSpPr>
        <p:spPr>
          <a:xfrm>
            <a:off x="4389120" y="2606040"/>
            <a:ext cx="4389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2B6CB0"/>
                </a:solidFill>
                <a:hlinkClick r:id="rId2" invalidUrl="" action="" tgtFrame="" tooltip="查看提交历史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github.com/D2RS-2026spring/lecture9-paper-digest/commits/main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000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76200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开发过程截图：ChatGPT 需求讨论</a:t>
            </a:r>
            <a:endParaRPr lang="en-US" sz="1400" dirty="0"/>
          </a:p>
        </p:txBody>
      </p:sp>
      <p:pic>
        <p:nvPicPr>
          <p:cNvPr id="4" name="Image 0" descr="/Users/gaoch/GitHub/D2RS-2026spring/lecture9-read-paper/ppt-workspace/images/dev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391" y="501551"/>
            <a:ext cx="8405068" cy="448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思考：这依然是数据科学思维吗？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0388" y="923925"/>
            <a:ext cx="55032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虽然代码由 AI 辅助生成，但其核心是否遵循数据科学逻辑？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2798" y="1400175"/>
            <a:ext cx="1701701" cy="768697"/>
          </a:xfrm>
          <a:prstGeom prst="roundRect">
            <a:avLst>
              <a:gd name="adj" fmla="val 9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229" y="1527125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原始数据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229" y="1777901"/>
            <a:ext cx="142483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文献信息及原文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229" y="1909911"/>
            <a:ext cx="142483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Zotero 文献库中获取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11450" y="159067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41699" y="1400175"/>
            <a:ext cx="1701701" cy="768697"/>
          </a:xfrm>
          <a:prstGeom prst="roundRect">
            <a:avLst>
              <a:gd name="adj" fmla="val 9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80130" y="1527125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数据预处理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0130" y="1777901"/>
            <a:ext cx="142483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内容提取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80130" y="1909911"/>
            <a:ext cx="142483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上传千问模型返回 JSON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70350" y="159067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400175"/>
            <a:ext cx="1701701" cy="1070372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9031" y="1527125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数据保存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9031" y="1777901"/>
            <a:ext cx="142483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状态缓存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64237" y="1985963"/>
            <a:ext cx="57427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数据库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69247" y="2202805"/>
            <a:ext cx="56425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.cache 文件夹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29251" y="1590675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59501" y="1400175"/>
            <a:ext cx="1701701" cy="1070372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97932" y="1527125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数据报告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97932" y="1777901"/>
            <a:ext cx="142483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结果呈现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27389" y="1985963"/>
            <a:ext cx="56577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 HTML 页面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40898" y="2202805"/>
            <a:ext cx="53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数据源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498080" y="2661047"/>
            <a:ext cx="4147840" cy="809625"/>
          </a:xfrm>
          <a:prstGeom prst="roundRect">
            <a:avLst>
              <a:gd name="adj" fmla="val 941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80401" y="2813447"/>
            <a:ext cx="35831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完全遵循数据科学逻辑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80401" y="3137297"/>
            <a:ext cx="3583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从原始数据获取 → 预处理 → 保存 → 报告的完整数据科学流程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职业展望：Vibe Coding 与程序员的未来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63526"/>
            <a:ext cx="4032200" cy="1187053"/>
          </a:xfrm>
          <a:prstGeom prst="roundRect">
            <a:avLst>
              <a:gd name="adj" fmla="val 855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254026"/>
            <a:ext cx="37242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D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565077"/>
            <a:ext cx="3724224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有了AI更加需要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"程序员"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，但这个程序员指的是具有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需求定义能力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产品思路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的开发者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1000" y="2783979"/>
            <a:ext cx="4032200" cy="0"/>
          </a:xfrm>
          <a:prstGeom prst="line">
            <a:avLst/>
          </a:prstGeom>
          <a:noFill/>
          <a:ln w="38100">
            <a:solidFill>
              <a:srgbClr val="429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1000" y="2441079"/>
            <a:ext cx="41128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能力转型方向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955429"/>
            <a:ext cx="4032200" cy="1850231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3387030"/>
            <a:ext cx="112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从"敲代码"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35819" y="3387030"/>
            <a:ext cx="3631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98378" y="3387030"/>
            <a:ext cx="16941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转向"架构设计"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4164509"/>
            <a:ext cx="112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被动实现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35819" y="4164509"/>
            <a:ext cx="3631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98378" y="4164509"/>
            <a:ext cx="16941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"项目管理"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30651" y="1406426"/>
            <a:ext cx="4032349" cy="0"/>
          </a:xfrm>
          <a:prstGeom prst="line">
            <a:avLst/>
          </a:prstGeom>
          <a:noFill/>
          <a:ln w="38100">
            <a:solidFill>
              <a:srgbClr val="4299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0651" y="1063526"/>
            <a:ext cx="41129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开发策略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0651" y="1577876"/>
            <a:ext cx="4032349" cy="768251"/>
          </a:xfrm>
          <a:prstGeom prst="roundRect">
            <a:avLst>
              <a:gd name="adj" fmla="val 13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54463" y="1577876"/>
            <a:ext cx="0" cy="768251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0676" y="1730276"/>
            <a:ext cx="37535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CLI 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0676" y="2016026"/>
            <a:ext cx="37535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确保核心工具的稳定与可靠，将常用功能封装为命令行工具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0651" y="2473077"/>
            <a:ext cx="4032349" cy="768251"/>
          </a:xfrm>
          <a:prstGeom prst="roundRect">
            <a:avLst>
              <a:gd name="adj" fmla="val 13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54463" y="2473077"/>
            <a:ext cx="0" cy="768251"/>
          </a:xfrm>
          <a:prstGeom prst="line">
            <a:avLst/>
          </a:prstGeom>
          <a:noFill/>
          <a:ln w="47625">
            <a:solidFill>
              <a:srgbClr val="4299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0676" y="2625477"/>
            <a:ext cx="37535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面向用户智能化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0676" y="2911227"/>
            <a:ext cx="37535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利用大模型提供柔性交互界面，让非技术用户也能轻松使用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0651" y="3368278"/>
            <a:ext cx="4032349" cy="972145"/>
          </a:xfrm>
          <a:prstGeom prst="roundRect">
            <a:avLst>
              <a:gd name="adj" fmla="val 10451"/>
            </a:avLst>
          </a:prstGeom>
          <a:solidFill>
            <a:srgbClr val="2D5A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83051" y="3520678"/>
            <a:ext cx="3802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83051" y="3796903"/>
            <a:ext cx="38021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AI不会取代程序员，而是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改变程序员的工作方式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——从写代码转向设计架构、定义需求、管理项目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幕后补给：Token 出海与批发 (Coding Plan)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Vibe Coding 的大规模应用，依赖于极低成本的 Token 供应 | Token = AI 时代的算力燃料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国内主流模型提供商（Coding Plan 优惠）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572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733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阿里云百炼</a:t>
            </a:r>
            <a:endParaRPr lang="en-US" sz="1000" dirty="0"/>
          </a:p>
        </p:txBody>
      </p:sp>
      <p:sp>
        <p:nvSpPr>
          <p:cNvPr id="9" name="Text 7">
            <a:hlinkClick r:id="rId1" tooltip="访问 阿里云百炼"/>
          </p:cNvPr>
          <p:cNvSpPr/>
          <p:nvPr/>
        </p:nvSpPr>
        <p:spPr>
          <a:xfrm>
            <a:off x="2011680" y="1691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B6CB0"/>
                </a:solidFill>
                <a:hlinkClick r:id="rId1" invalidUrl="" action="" tgtFrame="" tooltip="访问 阿里云百炼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bailian.console.aliyun.com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4572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22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智谱 AI</a:t>
            </a:r>
            <a:endParaRPr lang="en-US" sz="1000" dirty="0"/>
          </a:p>
        </p:txBody>
      </p:sp>
      <p:sp>
        <p:nvSpPr>
          <p:cNvPr id="12" name="Text 10">
            <a:hlinkClick r:id="rId2" tooltip="访问 智谱 AI"/>
          </p:cNvPr>
          <p:cNvSpPr/>
          <p:nvPr/>
        </p:nvSpPr>
        <p:spPr>
          <a:xfrm>
            <a:off x="2011680" y="21305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B6CB0"/>
                </a:solidFill>
                <a:hlinkClick r:id="rId2" invalidUrl="" action="" tgtFrame="" tooltip="访问 智谱 A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docs.bigmodel.cn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4572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511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火山引擎</a:t>
            </a:r>
            <a:endParaRPr lang="en-US" sz="1000" dirty="0"/>
          </a:p>
        </p:txBody>
      </p:sp>
      <p:sp>
        <p:nvSpPr>
          <p:cNvPr id="15" name="Text 13">
            <a:hlinkClick r:id="rId3" tooltip="访问 火山引擎"/>
          </p:cNvPr>
          <p:cNvSpPr/>
          <p:nvPr/>
        </p:nvSpPr>
        <p:spPr>
          <a:xfrm>
            <a:off x="2011680" y="25694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B6CB0"/>
                </a:solidFill>
                <a:hlinkClick r:id="rId3" invalidUrl="" action="" tgtFrame="" tooltip="访问 火山引擎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volcengine.com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4572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0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MinMax</a:t>
            </a:r>
            <a:endParaRPr lang="en-US" sz="1000" dirty="0"/>
          </a:p>
        </p:txBody>
      </p:sp>
      <p:sp>
        <p:nvSpPr>
          <p:cNvPr id="18" name="Text 16">
            <a:hlinkClick r:id="rId4" tooltip="访问 MinMax"/>
          </p:cNvPr>
          <p:cNvSpPr/>
          <p:nvPr/>
        </p:nvSpPr>
        <p:spPr>
          <a:xfrm>
            <a:off x="2011680" y="30083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B6CB0"/>
                </a:solidFill>
                <a:hlinkClick r:id="rId4" invalidUrl="" action="" tgtFrame="" tooltip="访问 MinMa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platform.minimaxi.com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充分利用国内云厂商的 Coding Plan 优惠，大幅降低 Token 成本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0" y="1234440"/>
            <a:ext cx="3474720" cy="320040"/>
          </a:xfrm>
          <a:prstGeom prst="rect">
            <a:avLst/>
          </a:prstGeom>
          <a:solidFill>
            <a:srgbClr val="FED7D7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中国出口新动向 - Token 批发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1645920"/>
            <a:ext cx="3474720" cy="18288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相关截图详见后续页面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6517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1F0"/>
                </a:solidFill>
              </a:rPr>
              <a:t>Token 出海 | Coding Plan | 价格对比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000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76200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出海：中国出口新动向</a:t>
            </a:r>
            <a:endParaRPr lang="en-US" sz="1400" dirty="0"/>
          </a:p>
        </p:txBody>
      </p:sp>
      <p:pic>
        <p:nvPicPr>
          <p:cNvPr id="4" name="Image 0" descr="/Users/gaoch/GitHub/D2RS-2026spring/lecture9-read-paper/ppt-workspace/images/token-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866626"/>
            <a:ext cx="8763000" cy="37593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000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76200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阿里云百炼 Coding Plan</a:t>
            </a:r>
            <a:endParaRPr lang="en-US" sz="1400" dirty="0"/>
          </a:p>
        </p:txBody>
      </p:sp>
      <p:pic>
        <p:nvPicPr>
          <p:cNvPr id="4" name="Image 0" descr="/Users/gaoch/GitHub/D2RS-2026spring/lecture9-read-paper/ppt-workspace/images/coding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501551"/>
            <a:ext cx="7353300" cy="4489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0005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76200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国内模型提供商价格对比</a:t>
            </a:r>
            <a:endParaRPr lang="en-US" sz="1400" dirty="0"/>
          </a:p>
        </p:txBody>
      </p:sp>
      <p:pic>
        <p:nvPicPr>
          <p:cNvPr id="4" name="Image 0" descr="/Users/gaoch/GitHub/D2RS-2026spring/lecture9-read-paper/ppt-workspace/images/price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45" y="501551"/>
            <a:ext cx="7961709" cy="4489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进阶实操：Claude Code 配置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1F0"/>
                </a:solidFill>
              </a:rPr>
              <a:t>什么是 Claude Code？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Claude Code 是 Anthropic 推出的 AI 编程助手，能够：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• 理解大型代码库，进行智能代码导航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• 自动编辑文件、执行命令、编写代码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• 支持 Agent 模式，自主完成任务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• 与 VS Code 等 IDE 深度集成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914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学习资源推荐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4572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3716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哔哩哔哩视频教程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600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秋芝 2046 Agent Skills - 系统讲解 Claude Code 的使用技巧和最佳实践</a:t>
            </a:r>
            <a:endParaRPr lang="en-US" sz="900" dirty="0"/>
          </a:p>
        </p:txBody>
      </p:sp>
      <p:sp>
        <p:nvSpPr>
          <p:cNvPr id="15" name="Text 13">
            <a:hlinkClick r:id="rId1" tooltip="观看视频"/>
          </p:cNvPr>
          <p:cNvSpPr/>
          <p:nvPr/>
        </p:nvSpPr>
        <p:spPr>
          <a:xfrm>
            <a:off x="4480560" y="1874520"/>
            <a:ext cx="4389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2B6CB0"/>
                </a:solidFill>
                <a:hlinkClick r:id="rId1" invalidUrl="" action="" tgtFrame="" tooltip="观看视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BV1G3FNznEiS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2240280"/>
            <a:ext cx="4572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33172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配套图文指南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详细的图文教程，覆盖安装配置、常用命令、实战案例等内容</a:t>
            </a:r>
            <a:endParaRPr lang="en-US" sz="900" dirty="0"/>
          </a:p>
        </p:txBody>
      </p:sp>
      <p:sp>
        <p:nvSpPr>
          <p:cNvPr id="19" name="Text 17">
            <a:hlinkClick r:id="rId2" tooltip="查看指南"/>
          </p:cNvPr>
          <p:cNvSpPr/>
          <p:nvPr/>
        </p:nvSpPr>
        <p:spPr>
          <a:xfrm>
            <a:off x="4480560" y="2834640"/>
            <a:ext cx="4389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2B6CB0"/>
                </a:solidFill>
                <a:hlinkClick r:id="rId2" invalidUrl="" action="" tgtFrame="" tooltip="查看指南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guide-app-lyart.vercel.app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3200400"/>
            <a:ext cx="4572000" cy="365760"/>
          </a:xfrm>
          <a:prstGeom prst="rect">
            <a:avLst/>
          </a:prstGeom>
          <a:solidFill>
            <a:srgbClr val="C6F6D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2918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855A"/>
                </a:solidFill>
              </a:rPr>
              <a:t>建议：先观看视频建立整体认知，再查阅图文指南进行实操练习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416" y="834926"/>
            <a:ext cx="248716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936950" y="2199977"/>
            <a:ext cx="1269950" cy="38100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47314" y="2491978"/>
            <a:ext cx="28492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祝各位顺利完成课程项目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642562" y="3542854"/>
            <a:ext cx="385887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i="1" dirty="0">
                <a:solidFill>
                  <a:srgbClr val="A8D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"拥抱 Vibe Coding，掌握 AI 时代的科研开发新范式"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50811" y="4060775"/>
            <a:ext cx="20422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2026年04月01日 | 高老师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漫谈 Vibe Coding</dc:title>
  <dc:subject>AI时代的科研开发范式转变</dc:subject>
  <dc:creator>高老师</dc:creator>
  <cp:lastModifiedBy>高老师</cp:lastModifiedBy>
  <cp:revision>1</cp:revision>
  <dcterms:created xsi:type="dcterms:W3CDTF">2026-04-01T07:01:00Z</dcterms:created>
  <dcterms:modified xsi:type="dcterms:W3CDTF">2026-04-01T07:01:00Z</dcterms:modified>
</cp:coreProperties>
</file>